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Weekly seasonal-naive baseline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MAE</c:v>
                </c:pt>
                <c:pt idx="1">
                  <c:v>RMSE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467.47</c:v>
                </c:pt>
                <c:pt idx="1">
                  <c:v>692.09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MAE</c:v>
                </c:pt>
                <c:pt idx="1">
                  <c:v>RMSE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1068.59</c:v>
                </c:pt>
                <c:pt idx="1">
                  <c:v>1143.11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Error (lower is better)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amuel-mwai/kenyan_retail_synthetic" TargetMode="External"/><Relationship Id="rId3" Type="http://schemas.openxmlformats.org/officeDocument/2006/relationships/hyperlink" Target="https://github.com/samuel-mwai/kenyan_retail_synthetic/tree/main/milestone_2" TargetMode="External"/><Relationship Id="rId4" Type="http://schemas.openxmlformats.org/officeDocument/2006/relationships/hyperlink" Target="https://github.com/samuel-mwai/kenyan_retail_synthetic/tree/main/milestone_3_EDA" TargetMode="External"/><Relationship Id="rId5" Type="http://schemas.openxmlformats.org/officeDocument/2006/relationships/hyperlink" Target="https://github.com/samuel-mwai/kenyan_retail_synthetic/tree/main/milestone_4_sql%20analysis" TargetMode="External"/><Relationship Id="rId6" Type="http://schemas.openxmlformats.org/officeDocument/2006/relationships/hyperlink" Target="https://github.com/samuel-mwai/kenyan_retail_synthetic/tree/main/milestone_5_statistical%20analysis" TargetMode="External"/><Relationship Id="rId7" Type="http://schemas.openxmlformats.org/officeDocument/2006/relationships/hyperlink" Target="https://github.com/samuel-mwai/kenyan_retail_synthetic/tree/main/milestone_6_Predictive%20model" TargetMode="External"/><Relationship Id="rId8" Type="http://schemas.openxmlformats.org/officeDocument/2006/relationships/hyperlink" Target="https://github.com/samuel-mwai/kenyan_retail_synthetic/tree/main/milestone_7_Dashboard%20Storytelling" TargetMode="External"/><Relationship Id="rId9" Type="http://schemas.openxmlformats.org/officeDocument/2006/relationships/hyperlink" Target="https://github.com/samuel-mwai/kenyan_retail_synthetic/tree/main/milestone_7_Dashboard%20Storytelling/screenshot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AB37"/>
                </a:solidFill>
                <a:latin typeface="Aptos"/>
              </a:defRPr>
            </a:pPr>
            <a:r>
              <a:t>CAPSTONE PROJECT  |  MILESTONE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Kenyan Retail Customer</a:t>
            </a:r>
            <a:br/>
            <a:r>
              <a:t>&amp; Sales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033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D2E1EB"/>
                </a:solidFill>
                <a:latin typeface="Aptos"/>
              </a:defRPr>
            </a:pPr>
            <a:r>
              <a:t>Demand forecasting, sales analysis and business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57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Prepared by Samuel Mwai  • 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806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2E1EB"/>
                </a:solidFill>
                <a:latin typeface="Aptos"/>
              </a:defRPr>
            </a:pPr>
            <a:r>
              <a:t>Educational project using synthetic supermarket data; results are not real business records.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A4A"/>
                </a:solidFill>
                <a:latin typeface="Aptos"/>
              </a:defRPr>
            </a:pPr>
            <a:r>
              <a:t>Business problem and 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960120" cy="54864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D6D7E"/>
                </a:solidFill>
                <a:latin typeface="Aptos"/>
              </a:defRPr>
            </a:pPr>
            <a:r>
              <a:t>The project explores how retail data can support inventory and commercial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D6D7E"/>
                </a:solidFill>
                <a:latin typeface="Aptos"/>
              </a:defRPr>
            </a:pPr>
            <a:r>
              <a:t>KENYAN RETAIL CUSTOMER &amp; SALES INTELLIGENCE  •  MILESTONE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D6D7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83441"/>
                </a:solidFill>
                <a:latin typeface="Aptos"/>
              </a:defRPr>
            </a:pPr>
            <a:r>
              <a:t>•  Retailers need to understand what sells, where sales occur, and how demand changes over time.</a:t>
            </a:r>
          </a:p>
          <a:p>
            <a:pPr>
              <a:spcAft>
                <a:spcPts val="1200"/>
              </a:spcAft>
              <a:defRPr sz="1900">
                <a:solidFill>
                  <a:srgbClr val="283441"/>
                </a:solidFill>
                <a:latin typeface="Aptos"/>
              </a:defRPr>
            </a:pPr>
            <a:r>
              <a:t>•  Weak demand planning can contribute to overstocking, stockouts and avoidable operating costs.</a:t>
            </a:r>
          </a:p>
          <a:p>
            <a:pPr>
              <a:spcAft>
                <a:spcPts val="1200"/>
              </a:spcAft>
              <a:defRPr sz="1900">
                <a:solidFill>
                  <a:srgbClr val="283441"/>
                </a:solidFill>
                <a:latin typeface="Aptos"/>
              </a:defRPr>
            </a:pPr>
            <a:r>
              <a:t>•  Analyze sales, products, stores, customers, promotions and calendar patterns.</a:t>
            </a:r>
          </a:p>
          <a:p>
            <a:pPr>
              <a:spcAft>
                <a:spcPts val="1200"/>
              </a:spcAft>
              <a:defRPr sz="1900">
                <a:solidFill>
                  <a:srgbClr val="283441"/>
                </a:solidFill>
                <a:latin typeface="Aptos"/>
              </a:defRPr>
            </a:pPr>
            <a:r>
              <a:t>•  Build a reproducible workflow from data inspection and cleaning to analysis, forecasting and dashboard storytelling.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A4A"/>
                </a:solidFill>
                <a:latin typeface="Aptos"/>
              </a:defRPr>
            </a:pPr>
            <a:r>
              <a:t>Dataset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960120" cy="54864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D6D7E"/>
                </a:solidFill>
                <a:latin typeface="Aptos"/>
              </a:defRPr>
            </a:pPr>
            <a:r>
              <a:t>Synthetic data created for learning and demonstration.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D6D7E"/>
                </a:solidFill>
                <a:latin typeface="Aptos"/>
              </a:defRPr>
            </a:pPr>
            <a:r>
              <a:t>KENYAN RETAIL CUSTOMER &amp; SALES INTELLIGENCE  •  MILESTONE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D6D7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2606040" cy="1417320"/>
          </a:xfrm>
          <a:prstGeom prst="roundRect">
            <a:avLst/>
          </a:prstGeom>
          <a:solidFill>
            <a:srgbClr val="F1F6F9"/>
          </a:solidFill>
          <a:ln>
            <a:solidFill>
              <a:srgbClr val="DE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746504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8287"/>
                </a:solidFill>
                <a:latin typeface="Aptos"/>
              </a:defRPr>
            </a:pPr>
            <a:r>
              <a:t>555,731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167128"/>
            <a:ext cx="227685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83441"/>
                </a:solidFill>
                <a:latin typeface="Aptos"/>
              </a:defRPr>
            </a:pPr>
            <a:r>
              <a:t>Validated sales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00200"/>
            <a:ext cx="2606040" cy="1417320"/>
          </a:xfrm>
          <a:prstGeom prst="roundRect">
            <a:avLst/>
          </a:prstGeom>
          <a:solidFill>
            <a:srgbClr val="F1F6F9"/>
          </a:solidFill>
          <a:ln>
            <a:solidFill>
              <a:srgbClr val="DE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746504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8287"/>
                </a:solidFill>
                <a:latin typeface="Aptos"/>
              </a:defRPr>
            </a:pPr>
            <a:r>
              <a:t>8 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167128"/>
            <a:ext cx="227685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83441"/>
                </a:solidFill>
                <a:latin typeface="Aptos"/>
              </a:defRPr>
            </a:pPr>
            <a:r>
              <a:t>Fictional store locations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00200"/>
            <a:ext cx="2606040" cy="1417320"/>
          </a:xfrm>
          <a:prstGeom prst="roundRect">
            <a:avLst/>
          </a:prstGeom>
          <a:solidFill>
            <a:srgbClr val="F1F6F9"/>
          </a:solidFill>
          <a:ln>
            <a:solidFill>
              <a:srgbClr val="DE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746504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8287"/>
                </a:solidFill>
                <a:latin typeface="Aptos"/>
              </a:defRPr>
            </a:pPr>
            <a:r>
              <a:t>100 products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167128"/>
            <a:ext cx="227685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83441"/>
                </a:solidFill>
                <a:latin typeface="Aptos"/>
              </a:defRPr>
            </a:pPr>
            <a:r>
              <a:t>Product catalogue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1600200"/>
            <a:ext cx="2560320" cy="1417320"/>
          </a:xfrm>
          <a:prstGeom prst="roundRect">
            <a:avLst/>
          </a:prstGeom>
          <a:solidFill>
            <a:srgbClr val="F1F6F9"/>
          </a:solidFill>
          <a:ln>
            <a:solidFill>
              <a:srgbClr val="DE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71432" y="1746504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8287"/>
                </a:solidFill>
                <a:latin typeface="Aptos"/>
              </a:defRPr>
            </a:pPr>
            <a:r>
              <a:t>6,000 customers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1432" y="2167128"/>
            <a:ext cx="223113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83441"/>
                </a:solidFill>
                <a:latin typeface="Aptos"/>
              </a:defRPr>
            </a:pPr>
            <a:r>
              <a:t>Customer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4290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83441"/>
                </a:solidFill>
                <a:latin typeface="Aptos"/>
              </a:defRPr>
            </a:pPr>
            <a:r>
              <a:t>•  Transaction period: 1 January 2024 – 31 December 2025.</a:t>
            </a:r>
          </a:p>
          <a:p>
            <a:pPr>
              <a:spcAft>
                <a:spcPts val="800"/>
              </a:spcAft>
              <a:defRPr sz="1600">
                <a:solidFill>
                  <a:srgbClr val="283441"/>
                </a:solidFill>
                <a:latin typeface="Aptos"/>
              </a:defRPr>
            </a:pPr>
            <a:r>
              <a:t>•  Core tables: sales, customers, products, stores, promotions and calendar.</a:t>
            </a:r>
          </a:p>
          <a:p>
            <a:pPr>
              <a:spcAft>
                <a:spcPts val="800"/>
              </a:spcAft>
              <a:defRPr sz="1600">
                <a:solidFill>
                  <a:srgbClr val="283441"/>
                </a:solidFill>
                <a:latin typeface="Aptos"/>
              </a:defRPr>
            </a:pPr>
            <a:r>
              <a:t>•  Contextual public data included Kenyan population, inflation and public holidays.</a:t>
            </a:r>
          </a:p>
          <a:p>
            <a:pPr>
              <a:spcAft>
                <a:spcPts val="800"/>
              </a:spcAft>
              <a:defRPr sz="1600">
                <a:solidFill>
                  <a:srgbClr val="283441"/>
                </a:solidFill>
                <a:latin typeface="Aptos"/>
              </a:defRPr>
            </a:pPr>
            <a:r>
              <a:t>•  All transaction and entity records are synthetic; public contextual data is separate.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A4A"/>
                </a:solidFill>
                <a:latin typeface="Aptos"/>
              </a:defRPr>
            </a:pPr>
            <a:r>
              <a:t>End-to-end analytical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960120" cy="54864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D6D7E"/>
                </a:solidFill>
                <a:latin typeface="Aptos"/>
              </a:defRPr>
            </a:pPr>
            <a:r>
              <a:t>Milestones build from understanding the data to communicating findings.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D6D7E"/>
                </a:solidFill>
                <a:latin typeface="Aptos"/>
              </a:defRPr>
            </a:pPr>
            <a:r>
              <a:t>KENYAN RETAIL CUSTOMER &amp; SALES INTELLIGENCE  •  MILESTONE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D6D7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57400"/>
            <a:ext cx="1298448" cy="1874519"/>
          </a:xfrm>
          <a:prstGeom prst="roundRect">
            <a:avLst/>
          </a:prstGeom>
          <a:solidFill>
            <a:srgbClr val="F1F6F9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267712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00828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11155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2A4A"/>
                </a:solidFill>
                <a:latin typeface="Aptos"/>
              </a:defRPr>
            </a:pPr>
            <a:r>
              <a:t>Problem framing</a:t>
            </a:r>
            <a:br/>
            <a:r>
              <a:t>&amp; data acquisition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65960" y="2057400"/>
            <a:ext cx="1298448" cy="1874519"/>
          </a:xfrm>
          <a:prstGeom prst="roundRect">
            <a:avLst/>
          </a:prstGeom>
          <a:solidFill>
            <a:srgbClr val="E5F1F2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75688" y="2267712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00828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788920"/>
            <a:ext cx="11155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2A4A"/>
                </a:solidFill>
                <a:latin typeface="Aptos"/>
              </a:defRPr>
            </a:pPr>
            <a:r>
              <a:t>Data inspection</a:t>
            </a:r>
            <a:br/>
            <a:r>
              <a:t>&amp; cleaning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2057400"/>
            <a:ext cx="1298448" cy="1874519"/>
          </a:xfrm>
          <a:prstGeom prst="roundRect">
            <a:avLst/>
          </a:prstGeom>
          <a:solidFill>
            <a:srgbClr val="F1F6F9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8728" y="2267712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00828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788920"/>
            <a:ext cx="11155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2A4A"/>
                </a:solidFill>
                <a:latin typeface="Aptos"/>
              </a:defRPr>
            </a:pPr>
            <a:r>
              <a:t>Exploratory</a:t>
            </a:r>
            <a:br/>
            <a:r>
              <a:t>data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2057400"/>
            <a:ext cx="1298448" cy="1874519"/>
          </a:xfrm>
          <a:prstGeom prst="roundRect">
            <a:avLst/>
          </a:prstGeom>
          <a:solidFill>
            <a:srgbClr val="E5F1F2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1768" y="2267712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00828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2788920"/>
            <a:ext cx="11155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2A4A"/>
                </a:solidFill>
                <a:latin typeface="Aptos"/>
              </a:defRPr>
            </a:pPr>
            <a:r>
              <a:t>SQL analysis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057400"/>
            <a:ext cx="1298448" cy="1874519"/>
          </a:xfrm>
          <a:prstGeom prst="roundRect">
            <a:avLst/>
          </a:prstGeom>
          <a:solidFill>
            <a:srgbClr val="F1F6F9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2267712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00828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788920"/>
            <a:ext cx="11155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2A4A"/>
                </a:solidFill>
                <a:latin typeface="Aptos"/>
              </a:defRPr>
            </a:pPr>
            <a:r>
              <a:t>Statistical</a:t>
            </a:r>
            <a:br/>
            <a:r>
              <a:t>analysis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2057400"/>
            <a:ext cx="1298448" cy="1874519"/>
          </a:xfrm>
          <a:prstGeom prst="roundRect">
            <a:avLst/>
          </a:prstGeom>
          <a:solidFill>
            <a:srgbClr val="E5F1F2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7848" y="2267712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00828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2788920"/>
            <a:ext cx="11155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2A4A"/>
                </a:solidFill>
                <a:latin typeface="Aptos"/>
              </a:defRPr>
            </a:pPr>
            <a:r>
              <a:t>Predictive</a:t>
            </a:r>
            <a:br/>
            <a:r>
              <a:t>modelling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81160" y="2057400"/>
            <a:ext cx="1298448" cy="1874519"/>
          </a:xfrm>
          <a:prstGeom prst="roundRect">
            <a:avLst/>
          </a:prstGeom>
          <a:solidFill>
            <a:srgbClr val="F1F6F9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90888" y="2267712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008287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2788920"/>
            <a:ext cx="11155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2A4A"/>
                </a:solidFill>
                <a:latin typeface="Aptos"/>
              </a:defRPr>
            </a:pPr>
            <a:r>
              <a:t>Power BI</a:t>
            </a:r>
            <a:br/>
            <a:r>
              <a:t>storytelling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44200" y="2057400"/>
            <a:ext cx="1298448" cy="1874519"/>
          </a:xfrm>
          <a:prstGeom prst="roundRect">
            <a:avLst/>
          </a:prstGeom>
          <a:solidFill>
            <a:srgbClr val="E5F1F2"/>
          </a:solidFill>
          <a:ln>
            <a:solidFill>
              <a:srgbClr val="DA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53928" y="2267712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008287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35640" y="2788920"/>
            <a:ext cx="11155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2A4A"/>
                </a:solidFill>
                <a:latin typeface="Aptos"/>
              </a:defRPr>
            </a:pPr>
            <a:r>
              <a:t>Documentation</a:t>
            </a:r>
            <a:br/>
            <a:r>
              <a:t>&amp; presentation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754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83441"/>
                </a:solidFill>
                <a:latin typeface="Aptos"/>
              </a:defRPr>
            </a:pPr>
            <a:r>
              <a:t>A reproducible workflow keeps code, outputs and explanations connected to the same project.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A4A"/>
                </a:solidFill>
                <a:latin typeface="Aptos"/>
              </a:defRPr>
            </a:pPr>
            <a:r>
              <a:t>Data cleaning and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960120" cy="54864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D6D7E"/>
                </a:solidFill>
                <a:latin typeface="Aptos"/>
              </a:defRPr>
            </a:pPr>
            <a:r>
              <a:t>The cleaning pipeline was designed to be re-runnable from raw sales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D6D7E"/>
                </a:solidFill>
                <a:latin typeface="Aptos"/>
              </a:defRPr>
            </a:pPr>
            <a:r>
              <a:t>KENYAN RETAIL CUSTOMER &amp; SALES INTELLIGENCE  •  MILESTONE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D6D7E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383280" cy="1417320"/>
          </a:xfrm>
          <a:prstGeom prst="roundRect">
            <a:avLst/>
          </a:prstGeom>
          <a:solidFill>
            <a:srgbClr val="F1F6F9"/>
          </a:solidFill>
          <a:ln>
            <a:solidFill>
              <a:srgbClr val="DE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46504"/>
            <a:ext cx="3054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8287"/>
                </a:solidFill>
                <a:latin typeface="Aptos"/>
              </a:defRPr>
            </a:pPr>
            <a:r>
              <a:t>555,731 rows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67128"/>
            <a:ext cx="305409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83441"/>
                </a:solidFill>
                <a:latin typeface="Aptos"/>
              </a:defRPr>
            </a:pPr>
            <a:r>
              <a:t>Validated sales rows retained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383280" cy="1417320"/>
          </a:xfrm>
          <a:prstGeom prst="roundRect">
            <a:avLst/>
          </a:prstGeom>
          <a:solidFill>
            <a:srgbClr val="F1F6F9"/>
          </a:solidFill>
          <a:ln>
            <a:solidFill>
              <a:srgbClr val="DE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46504"/>
            <a:ext cx="3054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8287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167128"/>
            <a:ext cx="305409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83441"/>
                </a:solidFill>
                <a:latin typeface="Aptos"/>
              </a:defRPr>
            </a:pPr>
            <a:r>
              <a:t>Missing values in essential fields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00200"/>
            <a:ext cx="3383280" cy="1417320"/>
          </a:xfrm>
          <a:prstGeom prst="roundRect">
            <a:avLst/>
          </a:prstGeom>
          <a:solidFill>
            <a:srgbClr val="F1F6F9"/>
          </a:solidFill>
          <a:ln>
            <a:solidFill>
              <a:srgbClr val="DE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746504"/>
            <a:ext cx="3054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8287"/>
                </a:solidFill>
                <a:latin typeface="Aptos"/>
              </a:defRPr>
            </a:pPr>
            <a:r>
              <a:t>2 years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167128"/>
            <a:ext cx="305409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83441"/>
                </a:solidFill>
                <a:latin typeface="Aptos"/>
              </a:defRPr>
            </a:pPr>
            <a:r>
              <a:t>Date range preserved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4290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83441"/>
                </a:solidFill>
                <a:latin typeface="Aptos"/>
              </a:defRPr>
            </a:pPr>
            <a:r>
              <a:t>•  Removed exact duplicate rows and converted date and numeric fields to appropriate types.</a:t>
            </a:r>
          </a:p>
          <a:p>
            <a:pPr>
              <a:spcAft>
                <a:spcPts val="800"/>
              </a:spcAft>
              <a:defRPr sz="1600">
                <a:solidFill>
                  <a:srgbClr val="283441"/>
                </a:solidFill>
                <a:latin typeface="Aptos"/>
              </a:defRPr>
            </a:pPr>
            <a:r>
              <a:t>•  Removed records with missing essential fields or non-positive quantities/prices.</a:t>
            </a:r>
          </a:p>
          <a:p>
            <a:pPr>
              <a:spcAft>
                <a:spcPts val="800"/>
              </a:spcAft>
              <a:defRPr sz="1600">
                <a:solidFill>
                  <a:srgbClr val="283441"/>
                </a:solidFill>
                <a:latin typeface="Aptos"/>
              </a:defRPr>
            </a:pPr>
            <a:r>
              <a:t>•  Kept missing customer and promotion IDs where they were not essential to validating a sale.</a:t>
            </a:r>
          </a:p>
          <a:p>
            <a:pPr>
              <a:spcAft>
                <a:spcPts val="800"/>
              </a:spcAft>
              <a:defRPr sz="1600">
                <a:solidFill>
                  <a:srgbClr val="283441"/>
                </a:solidFill>
                <a:latin typeface="Aptos"/>
              </a:defRPr>
            </a:pPr>
            <a:r>
              <a:t>•  Saved validated data separately from raw inputs to preserve traceability.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A4A"/>
                </a:solidFill>
                <a:latin typeface="Aptos"/>
              </a:defRPr>
            </a:pPr>
            <a:r>
              <a:t>Selected sales and SQL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960120" cy="54864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D6D7E"/>
                </a:solidFill>
                <a:latin typeface="Aptos"/>
              </a:defRPr>
            </a:pPr>
            <a:r>
              <a:t>Selected outputs from the project analysis; currency is Kenyan shillings (KES).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D6D7E"/>
                </a:solidFill>
                <a:latin typeface="Aptos"/>
              </a:defRPr>
            </a:pPr>
            <a:r>
              <a:t>KENYAN RETAIL CUSTOMER &amp; SALES INTELLIGENCE  •  MILESTONE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D6D7E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3474720" cy="1508760"/>
          </a:xfrm>
          <a:prstGeom prst="roundRect">
            <a:avLst/>
          </a:prstGeom>
          <a:solidFill>
            <a:srgbClr val="F1F6F9"/>
          </a:solidFill>
          <a:ln>
            <a:solidFill>
              <a:srgbClr val="DE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00784"/>
            <a:ext cx="31455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8287"/>
                </a:solidFill>
                <a:latin typeface="Aptos"/>
              </a:defRPr>
            </a:pPr>
            <a:r>
              <a:t>Top revenue category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121408"/>
            <a:ext cx="314553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83441"/>
                </a:solidFill>
                <a:latin typeface="Aptos"/>
              </a:defRPr>
            </a:pPr>
            <a:r>
              <a:t>Staples</a:t>
            </a:r>
            <a:br/>
            <a:r>
              <a:t>~KES 254.57 million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554480"/>
            <a:ext cx="3474720" cy="1508760"/>
          </a:xfrm>
          <a:prstGeom prst="roundRect">
            <a:avLst/>
          </a:prstGeom>
          <a:solidFill>
            <a:srgbClr val="F1F6F9"/>
          </a:solidFill>
          <a:ln>
            <a:solidFill>
              <a:srgbClr val="DE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700784"/>
            <a:ext cx="31455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8287"/>
                </a:solidFill>
                <a:latin typeface="Aptos"/>
              </a:defRPr>
            </a:pPr>
            <a:r>
              <a:t>Top revenue product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121408"/>
            <a:ext cx="314553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83441"/>
                </a:solidFill>
                <a:latin typeface="Aptos"/>
              </a:defRPr>
            </a:pPr>
            <a:r>
              <a:t>Milk Powder 400g</a:t>
            </a:r>
            <a:br/>
            <a:r>
              <a:t>~KES 27.57 million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554480"/>
            <a:ext cx="3474720" cy="1508760"/>
          </a:xfrm>
          <a:prstGeom prst="roundRect">
            <a:avLst/>
          </a:prstGeom>
          <a:solidFill>
            <a:srgbClr val="F1F6F9"/>
          </a:solidFill>
          <a:ln>
            <a:solidFill>
              <a:srgbClr val="DE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9912" y="1700784"/>
            <a:ext cx="31455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8287"/>
                </a:solidFill>
                <a:latin typeface="Aptos"/>
              </a:defRPr>
            </a:pPr>
            <a:r>
              <a:t>Highest revenue 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9912" y="2121408"/>
            <a:ext cx="314553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83441"/>
                </a:solidFill>
                <a:latin typeface="Aptos"/>
              </a:defRPr>
            </a:pPr>
            <a:r>
              <a:t>Nairobi Central</a:t>
            </a:r>
            <a:br/>
            <a:r>
              <a:t>~KES 127.44 million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20439"/>
            <a:ext cx="3474720" cy="1508760"/>
          </a:xfrm>
          <a:prstGeom prst="roundRect">
            <a:avLst/>
          </a:prstGeom>
          <a:solidFill>
            <a:srgbClr val="F1F6F9"/>
          </a:solidFill>
          <a:ln>
            <a:solidFill>
              <a:srgbClr val="DE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3666744"/>
            <a:ext cx="31455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8287"/>
                </a:solidFill>
                <a:latin typeface="Aptos"/>
              </a:defRPr>
            </a:pPr>
            <a:r>
              <a:t>Highest recorded payment-method revenue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4087368"/>
            <a:ext cx="314553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83441"/>
                </a:solidFill>
                <a:latin typeface="Aptos"/>
              </a:defRPr>
            </a:pPr>
            <a:r>
              <a:t>M-Pesa</a:t>
            </a:r>
            <a:br/>
            <a:r>
              <a:t>~KES 487.59 million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3520439"/>
            <a:ext cx="3474720" cy="1508760"/>
          </a:xfrm>
          <a:prstGeom prst="roundRect">
            <a:avLst/>
          </a:prstGeom>
          <a:solidFill>
            <a:srgbClr val="F1F6F9"/>
          </a:solidFill>
          <a:ln>
            <a:solidFill>
              <a:srgbClr val="DE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45152" y="3666744"/>
            <a:ext cx="31455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AB37"/>
                </a:solidFill>
                <a:latin typeface="Aptos"/>
              </a:defRPr>
            </a:pPr>
            <a:r>
              <a:t>December 2025 monthly 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4087368"/>
            <a:ext cx="314553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83441"/>
                </a:solidFill>
                <a:latin typeface="Aptos"/>
              </a:defRPr>
            </a:pPr>
            <a:r>
              <a:t>~KES 46.44 million</a:t>
            </a:r>
            <a:br/>
            <a:r>
              <a:t>23.40% above November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6692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D6D7E"/>
                </a:solidFill>
                <a:latin typeface="Aptos"/>
              </a:defRPr>
            </a:pPr>
            <a:r>
              <a:t>Verify figures against the saved SQL outputs before final external submission.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A4A"/>
                </a:solidFill>
                <a:latin typeface="Aptos"/>
              </a:defRPr>
            </a:pPr>
            <a:r>
              <a:t>Statistical analysis: two comparisons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960120" cy="54864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D6D7E"/>
                </a:solidFill>
                <a:latin typeface="Aptos"/>
              </a:defRPr>
            </a:pPr>
            <a:r>
              <a:t>Welch independent-samples t-tests; significance threshold α = 0.05.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D6D7E"/>
                </a:solidFill>
                <a:latin typeface="Aptos"/>
              </a:defRPr>
            </a:pPr>
            <a:r>
              <a:t>KENYAN RETAIL CUSTOMER &amp; SALES INTELLIGENCE  •  MILESTONE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D6D7E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12080" cy="1874519"/>
          </a:xfrm>
          <a:prstGeom prst="roundRect">
            <a:avLst/>
          </a:prstGeom>
          <a:solidFill>
            <a:srgbClr val="F1F6F9"/>
          </a:solidFill>
          <a:ln>
            <a:solidFill>
              <a:srgbClr val="DE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00784"/>
            <a:ext cx="48828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8287"/>
                </a:solidFill>
                <a:latin typeface="Aptos"/>
              </a:defRPr>
            </a:pPr>
            <a:r>
              <a:t>Payment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21408"/>
            <a:ext cx="4882896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83441"/>
                </a:solidFill>
                <a:latin typeface="Aptos"/>
              </a:defRPr>
            </a:pPr>
            <a:r>
              <a:t>M-Pesa mean sales value/record: KES 1,395.08</a:t>
            </a:r>
            <a:br/>
            <a:r>
              <a:t>Other methods: KES 1,388.15</a:t>
            </a:r>
            <a:br/>
            <a:r>
              <a:t>Difference: KES 6.93  •  p = 0.0984</a:t>
            </a:r>
            <a:br/>
            <a:r>
              <a:t>Not statistically significant at 5%.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212080" cy="1874519"/>
          </a:xfrm>
          <a:prstGeom prst="roundRect">
            <a:avLst/>
          </a:prstGeom>
          <a:solidFill>
            <a:srgbClr val="F1F6F9"/>
          </a:solidFill>
          <a:ln>
            <a:solidFill>
              <a:srgbClr val="DE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700784"/>
            <a:ext cx="48828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8287"/>
                </a:solidFill>
                <a:latin typeface="Aptos"/>
              </a:defRPr>
            </a:pPr>
            <a:r>
              <a:t>Promotion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121408"/>
            <a:ext cx="4882896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83441"/>
                </a:solidFill>
                <a:latin typeface="Aptos"/>
              </a:defRPr>
            </a:pPr>
            <a:r>
              <a:t>Promotion records: KES 1,433.18</a:t>
            </a:r>
            <a:br/>
            <a:r>
              <a:t>No-promotion records: KES 1,391.47</a:t>
            </a:r>
            <a:br/>
            <a:r>
              <a:t>Difference: KES 41.71  •  p = 0.00166</a:t>
            </a:r>
            <a:br/>
            <a:r>
              <a:t>Statistically significant association.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77639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3441"/>
                </a:solidFill>
                <a:latin typeface="Aptos"/>
              </a:defRPr>
            </a:pPr>
            <a:r>
              <a:t>•  Sales value per record was calculated as quantity × selling price per unit.</a:t>
            </a:r>
          </a:p>
          <a:p>
            <a:pPr>
              <a:spcAft>
                <a:spcPts val="700"/>
              </a:spcAft>
              <a:defRPr sz="1500">
                <a:solidFill>
                  <a:srgbClr val="283441"/>
                </a:solidFill>
                <a:latin typeface="Aptos"/>
              </a:defRPr>
            </a:pPr>
            <a:r>
              <a:t>•  A significant association does not prove that promotions caused higher sales value.</a:t>
            </a:r>
          </a:p>
          <a:p>
            <a:pPr>
              <a:spcAft>
                <a:spcPts val="700"/>
              </a:spcAft>
              <a:defRPr sz="1500">
                <a:solidFill>
                  <a:srgbClr val="283441"/>
                </a:solidFill>
                <a:latin typeface="Aptos"/>
              </a:defRPr>
            </a:pPr>
            <a:r>
              <a:t>•  The sales-value distributions are right-skewed, so interpret mean-based comparisons carefully.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A4A"/>
                </a:solidFill>
                <a:latin typeface="Aptos"/>
              </a:defRPr>
            </a:pPr>
            <a:r>
              <a:t>Forecasting model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960120" cy="54864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D6D7E"/>
                </a:solidFill>
                <a:latin typeface="Aptos"/>
              </a:defRPr>
            </a:pPr>
            <a:r>
              <a:t>74-day holdout period: 19 October – 31 December 2025.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D6D7E"/>
                </a:solidFill>
                <a:latin typeface="Aptos"/>
              </a:defRPr>
            </a:pPr>
            <a:r>
              <a:t>KENYAN RETAIL CUSTOMER &amp; SALES INTELLIGENCE  •  MILESTONE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D6D7E"/>
                </a:solidFill>
                <a:latin typeface="Aptos"/>
              </a:defRPr>
            </a:pPr>
            <a:r>
              <a:t>8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1508760"/>
          <a:ext cx="66751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26679" y="1737360"/>
            <a:ext cx="3703320" cy="1920240"/>
          </a:xfrm>
          <a:prstGeom prst="roundRect">
            <a:avLst/>
          </a:prstGeom>
          <a:solidFill>
            <a:srgbClr val="F1F6F9"/>
          </a:solidFill>
          <a:ln>
            <a:solidFill>
              <a:srgbClr val="DE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91271" y="1883664"/>
            <a:ext cx="3374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8287"/>
                </a:solidFill>
                <a:latin typeface="Aptos"/>
              </a:defRPr>
            </a:pPr>
            <a:r>
              <a:t>Best model in this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91271" y="2304288"/>
            <a:ext cx="337413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83441"/>
                </a:solidFill>
                <a:latin typeface="Aptos"/>
              </a:defRPr>
            </a:pPr>
            <a:r>
              <a:t>Weekly seasonal-naive baseline</a:t>
            </a:r>
            <a:br/>
            <a:r>
              <a:t>MAE: 467.47</a:t>
            </a:r>
            <a:br/>
            <a:r>
              <a:t>RMSE: 692.09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3886200"/>
            <a:ext cx="3703320" cy="1417320"/>
          </a:xfrm>
          <a:prstGeom prst="roundRect">
            <a:avLst/>
          </a:prstGeom>
          <a:solidFill>
            <a:srgbClr val="F1F6F9"/>
          </a:solidFill>
          <a:ln>
            <a:solidFill>
              <a:srgbClr val="DE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91271" y="4032504"/>
            <a:ext cx="3374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AB37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1271" y="4453128"/>
            <a:ext cx="337413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83441"/>
                </a:solidFill>
                <a:latin typeface="Aptos"/>
              </a:defRPr>
            </a:pPr>
            <a:r>
              <a:t>Random Forest errors were higher on this holdout; the more complex model did not improve accuracy here.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D6D7E"/>
                </a:solidFill>
                <a:latin typeface="Aptos"/>
              </a:defRPr>
            </a:pPr>
            <a:r>
              <a:t>Recommendation: keep the seasonal-naive model as a benchmark and test more time-based validation windows.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A4A"/>
                </a:solidFill>
                <a:latin typeface="Aptos"/>
              </a:defRPr>
            </a:pPr>
            <a:r>
              <a:t>Power BI dashboard and storytelling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960120" cy="54864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D6D7E"/>
                </a:solidFill>
                <a:latin typeface="Aptos"/>
              </a:defRPr>
            </a:pPr>
            <a:r>
              <a:t>Milestone 7 turns analysis into an interface for exploring business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D6D7E"/>
                </a:solidFill>
                <a:latin typeface="Aptos"/>
              </a:defRPr>
            </a:pPr>
            <a:r>
              <a:t>KENYAN RETAIL CUSTOMER &amp; SALES INTELLIGENCE  •  MILESTONE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D6D7E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29000" cy="1965960"/>
          </a:xfrm>
          <a:prstGeom prst="roundRect">
            <a:avLst/>
          </a:prstGeom>
          <a:solidFill>
            <a:srgbClr val="F1F6F9"/>
          </a:solidFill>
          <a:ln>
            <a:solidFill>
              <a:srgbClr val="DE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92224"/>
            <a:ext cx="3099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8287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12848"/>
            <a:ext cx="3099816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83441"/>
                </a:solidFill>
                <a:latin typeface="Aptos"/>
              </a:defRPr>
            </a:pPr>
            <a:r>
              <a:t>Headline KPIs and high-level sales performance.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29000" cy="1965960"/>
          </a:xfrm>
          <a:prstGeom prst="roundRect">
            <a:avLst/>
          </a:prstGeom>
          <a:solidFill>
            <a:srgbClr val="F1F6F9"/>
          </a:solidFill>
          <a:ln>
            <a:solidFill>
              <a:srgbClr val="DE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92224"/>
            <a:ext cx="3099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8287"/>
                </a:solidFill>
                <a:latin typeface="Aptos"/>
              </a:defRPr>
            </a:pPr>
            <a:r>
              <a:t>Demand trends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212848"/>
            <a:ext cx="3099816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83441"/>
                </a:solidFill>
                <a:latin typeface="Aptos"/>
              </a:defRPr>
            </a:pPr>
            <a:r>
              <a:t>Sales and demand patterns across the observed period.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429000" cy="1965960"/>
          </a:xfrm>
          <a:prstGeom prst="roundRect">
            <a:avLst/>
          </a:prstGeom>
          <a:solidFill>
            <a:srgbClr val="F1F6F9"/>
          </a:solidFill>
          <a:ln>
            <a:solidFill>
              <a:srgbClr val="DE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792224"/>
            <a:ext cx="3099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8287"/>
                </a:solidFill>
                <a:latin typeface="Aptos"/>
              </a:defRPr>
            </a:pPr>
            <a:r>
              <a:t>Forecast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212848"/>
            <a:ext cx="3099816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83441"/>
                </a:solidFill>
                <a:latin typeface="Aptos"/>
              </a:defRPr>
            </a:pPr>
            <a:r>
              <a:t>Compare baseline and model results to support planning.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605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1"/>
                </a:solidFill>
                <a:latin typeface="Aptos"/>
              </a:defRPr>
            </a:pPr>
            <a:r>
              <a:t>•  Power BI file: milestone_7_Dashboard Storytelling/Kenyan_Supermarket_Dashboard.pbix</a:t>
            </a:r>
          </a:p>
          <a:p>
            <a:pPr>
              <a:spcAft>
                <a:spcPts val="800"/>
              </a:spcAft>
              <a:defRPr sz="1500">
                <a:solidFill>
                  <a:srgbClr val="283441"/>
                </a:solidFill>
                <a:latin typeface="Aptos"/>
              </a:defRPr>
            </a:pPr>
            <a:r>
              <a:t>•  Use dashboard screenshots in the final repository so reviewers can preview the work without opening Power BI.</a:t>
            </a:r>
          </a:p>
          <a:p>
            <a:pPr>
              <a:spcAft>
                <a:spcPts val="800"/>
              </a:spcAft>
              <a:defRPr sz="1500">
                <a:solidFill>
                  <a:srgbClr val="283441"/>
                </a:solidFill>
                <a:latin typeface="Aptos"/>
              </a:defRPr>
            </a:pPr>
            <a:r>
              <a:t>•  Insert a genuine screenshot here if you want a visual dashboard preview; none is embedded in this generated deck.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A4A"/>
                </a:solidFill>
                <a:latin typeface="Aptos"/>
              </a:defRPr>
            </a:pPr>
            <a:r>
              <a:t>Business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960120" cy="54864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D6D7E"/>
                </a:solidFill>
                <a:latin typeface="Aptos"/>
              </a:defRPr>
            </a:pPr>
            <a:r>
              <a:t>Practical next steps based on the current synthetic-data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D6D7E"/>
                </a:solidFill>
                <a:latin typeface="Aptos"/>
              </a:defRPr>
            </a:pPr>
            <a:r>
              <a:t>KENYAN RETAIL CUSTOMER &amp; SALES INTELLIGENCE  •  MILESTONE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D6D7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3441"/>
                </a:solidFill>
                <a:latin typeface="Aptos"/>
              </a:defRPr>
            </a:pPr>
            <a:r>
              <a:t>•  Monitor high-revenue categories and products when prioritizing reporting and inventory reviews.</a:t>
            </a:r>
          </a:p>
          <a:p>
            <a:pPr>
              <a:spcAft>
                <a:spcPts val="1200"/>
              </a:spcAft>
              <a:defRPr sz="1800">
                <a:solidFill>
                  <a:srgbClr val="283441"/>
                </a:solidFill>
                <a:latin typeface="Aptos"/>
              </a:defRPr>
            </a:pPr>
            <a:r>
              <a:t>•  Compare store-level performance and investigate differences before setting store targets.</a:t>
            </a:r>
          </a:p>
          <a:p>
            <a:pPr>
              <a:spcAft>
                <a:spcPts val="1200"/>
              </a:spcAft>
              <a:defRPr sz="1800">
                <a:solidFill>
                  <a:srgbClr val="283441"/>
                </a:solidFill>
                <a:latin typeface="Aptos"/>
              </a:defRPr>
            </a:pPr>
            <a:r>
              <a:t>•  Evaluate promotions using appropriate comparison periods and profitability measures, not sales value alone.</a:t>
            </a:r>
          </a:p>
          <a:p>
            <a:pPr>
              <a:spcAft>
                <a:spcPts val="1200"/>
              </a:spcAft>
              <a:defRPr sz="1800">
                <a:solidFill>
                  <a:srgbClr val="283441"/>
                </a:solidFill>
                <a:latin typeface="Aptos"/>
              </a:defRPr>
            </a:pPr>
            <a:r>
              <a:t>•  Retain the weekly seasonal-naive forecast as a benchmark while improving model features and validation.</a:t>
            </a:r>
          </a:p>
          <a:p>
            <a:pPr>
              <a:spcAft>
                <a:spcPts val="1200"/>
              </a:spcAft>
              <a:defRPr sz="1800">
                <a:solidFill>
                  <a:srgbClr val="283441"/>
                </a:solidFill>
                <a:latin typeface="Aptos"/>
              </a:defRPr>
            </a:pPr>
            <a:r>
              <a:t>•  Track forecast errors over time and review stockout/overstock outcomes once real operational data is available.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A4A"/>
                </a:solidFill>
                <a:latin typeface="Aptos"/>
              </a:defRPr>
            </a:pPr>
            <a:r>
              <a:t>Limitations and interpretation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960120" cy="54864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D6D7E"/>
                </a:solidFill>
                <a:latin typeface="Aptos"/>
              </a:defRPr>
            </a:pPr>
            <a:r>
              <a:t>Important context for decision-makers and reviewers.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D6D7E"/>
                </a:solidFill>
                <a:latin typeface="Aptos"/>
              </a:defRPr>
            </a:pPr>
            <a:r>
              <a:t>KENYAN RETAIL CUSTOMER &amp; SALES INTELLIGENCE  •  MILESTONE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D6D7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83441"/>
                </a:solidFill>
                <a:latin typeface="Aptos"/>
              </a:defRPr>
            </a:pPr>
            <a:r>
              <a:t>•  All transaction, customer, product and store records are synthetic and do not represent actual supermarket activity.</a:t>
            </a:r>
          </a:p>
          <a:p>
            <a:pPr>
              <a:spcAft>
                <a:spcPts val="900"/>
              </a:spcAft>
              <a:defRPr sz="1600">
                <a:solidFill>
                  <a:srgbClr val="283441"/>
                </a:solidFill>
                <a:latin typeface="Aptos"/>
              </a:defRPr>
            </a:pPr>
            <a:r>
              <a:t>•  The dataset covers two years, which limits assessment of longer seasonal cycles and structural change.</a:t>
            </a:r>
          </a:p>
          <a:p>
            <a:pPr>
              <a:spcAft>
                <a:spcPts val="900"/>
              </a:spcAft>
              <a:defRPr sz="1600">
                <a:solidFill>
                  <a:srgbClr val="283441"/>
                </a:solidFill>
                <a:latin typeface="Aptos"/>
              </a:defRPr>
            </a:pPr>
            <a:r>
              <a:t>•  Forecast evaluation uses one 74-day holdout; more rolling-origin/time-based validation is needed.</a:t>
            </a:r>
          </a:p>
          <a:p>
            <a:pPr>
              <a:spcAft>
                <a:spcPts val="900"/>
              </a:spcAft>
              <a:defRPr sz="1600">
                <a:solidFill>
                  <a:srgbClr val="283441"/>
                </a:solidFill>
                <a:latin typeface="Aptos"/>
              </a:defRPr>
            </a:pPr>
            <a:r>
              <a:t>•  Revenue is not profit; margins, costs, inventory availability and stockout records were not evaluated here.</a:t>
            </a:r>
          </a:p>
          <a:p>
            <a:pPr>
              <a:spcAft>
                <a:spcPts val="900"/>
              </a:spcAft>
              <a:defRPr sz="1600">
                <a:solidFill>
                  <a:srgbClr val="283441"/>
                </a:solidFill>
                <a:latin typeface="Aptos"/>
              </a:defRPr>
            </a:pPr>
            <a:r>
              <a:t>•  A prior RFM segment count summed to 6,001 against 6,000 customer records; reconcile that discrepancy before quoting segment totals.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A4A"/>
                </a:solidFill>
                <a:latin typeface="Aptos"/>
              </a:defRPr>
            </a:pPr>
            <a:r>
              <a:t>Repository and deliverables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960120" cy="54864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D6D7E"/>
                </a:solidFill>
                <a:latin typeface="Aptos"/>
              </a:defRPr>
            </a:pPr>
            <a:r>
              <a:t>Open the GitHub repository to review the notebooks, analysis and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D6D7E"/>
                </a:solidFill>
                <a:latin typeface="Aptos"/>
              </a:defRPr>
            </a:pPr>
            <a:r>
              <a:t>KENYAN RETAIL CUSTOMER &amp; SALES INTELLIGENCE  •  MILESTONE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D6D7E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A4A"/>
                </a:solidFill>
                <a:latin typeface="Aptos"/>
              </a:defRPr>
            </a:pPr>
            <a:r>
              <a:t>Milestone 1 / project root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417320"/>
            <a:ext cx="7680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8287"/>
                </a:solidFill>
                <a:latin typeface="Aptos"/>
              </a:defRPr>
            </a:pPr>
            <a:r>
              <a:rPr>
                <a:hlinkClick r:id="rId2"/>
              </a:rPr>
              <a:t>https://github.com/samuel-mwai/kenyan_retail_synthetic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56816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A4A"/>
                </a:solidFill>
                <a:latin typeface="Aptos"/>
              </a:defRPr>
            </a:pPr>
            <a:r>
              <a:t>Milestone 2 – cleaning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956816"/>
            <a:ext cx="7680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8287"/>
                </a:solidFill>
                <a:latin typeface="Aptos"/>
              </a:defRPr>
            </a:pPr>
            <a:r>
              <a:rPr>
                <a:hlinkClick r:id="rId3"/>
              </a:rPr>
              <a:t>https://github.com/samuel-mwai/kenyan_retail_synthetic/tree/main/milestone_2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96312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A4A"/>
                </a:solidFill>
                <a:latin typeface="Aptos"/>
              </a:defRPr>
            </a:pPr>
            <a:r>
              <a:t>Milestone 3 – EDA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96312"/>
            <a:ext cx="7680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8287"/>
                </a:solidFill>
                <a:latin typeface="Aptos"/>
              </a:defRPr>
            </a:pPr>
            <a:r>
              <a:rPr>
                <a:hlinkClick r:id="rId4"/>
              </a:rPr>
              <a:t>https://github.com/samuel-mwai/kenyan_retail_synthetic/tree/main/milestone_3_EDA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35808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A4A"/>
                </a:solidFill>
                <a:latin typeface="Aptos"/>
              </a:defRPr>
            </a:pPr>
            <a:r>
              <a:t>Milestone 4 – SQL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035808"/>
            <a:ext cx="7680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8287"/>
                </a:solidFill>
                <a:latin typeface="Aptos"/>
              </a:defRPr>
            </a:pPr>
            <a:r>
              <a:rPr>
                <a:hlinkClick r:id="rId5"/>
              </a:rPr>
              <a:t>https://github.com/samuel-mwai/kenyan_retail_synthetic/tree/main/milestone_4_sql%20analysis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75304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A4A"/>
                </a:solidFill>
                <a:latin typeface="Aptos"/>
              </a:defRPr>
            </a:pPr>
            <a:r>
              <a:t>Milestone 5 – statistical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575304"/>
            <a:ext cx="7680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8287"/>
                </a:solidFill>
                <a:latin typeface="Aptos"/>
              </a:defRPr>
            </a:pPr>
            <a:r>
              <a:rPr>
                <a:hlinkClick r:id="rId6"/>
              </a:rPr>
              <a:t>https://github.com/samuel-mwai/kenyan_retail_synthetic/tree/main/milestone_5_statistical%20analysis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11480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A4A"/>
                </a:solidFill>
                <a:latin typeface="Aptos"/>
              </a:defRPr>
            </a:pPr>
            <a:r>
              <a:t>Milestone 6 – predictive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114800"/>
            <a:ext cx="7680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8287"/>
                </a:solidFill>
                <a:latin typeface="Aptos"/>
              </a:defRPr>
            </a:pPr>
            <a:r>
              <a:rPr>
                <a:hlinkClick r:id="rId7"/>
              </a:rPr>
              <a:t>https://github.com/samuel-mwai/kenyan_retail_synthetic/tree/main/milestone_6_Predictive%20model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54296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A4A"/>
                </a:solidFill>
                <a:latin typeface="Aptos"/>
              </a:defRPr>
            </a:pPr>
            <a:r>
              <a:t>Milestone 7 – dashboard storytelling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654296"/>
            <a:ext cx="7680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8287"/>
                </a:solidFill>
                <a:latin typeface="Aptos"/>
              </a:defRPr>
            </a:pPr>
            <a:r>
              <a:rPr>
                <a:hlinkClick r:id="rId8"/>
              </a:rPr>
              <a:t>https://github.com/samuel-mwai/kenyan_retail_synthetic/tree/main/milestone_7_Dashboard%20Storytelling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193792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A4A"/>
                </a:solidFill>
                <a:latin typeface="Aptos"/>
              </a:defRPr>
            </a:pPr>
            <a:r>
              <a:t>Milestone 7 – screenshots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5193792"/>
            <a:ext cx="7680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8287"/>
                </a:solidFill>
                <a:latin typeface="Aptos"/>
              </a:defRPr>
            </a:pPr>
            <a:r>
              <a:rPr>
                <a:hlinkClick r:id="rId9"/>
              </a:rPr>
              <a:t>https://github.com/samuel-mwai/kenyan_retail_synthetic/tree/main/milestone_7_Dashboard%20Storytelling/screenshots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989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E453F"/>
                </a:solidFill>
                <a:latin typeface="Aptos"/>
              </a:defRPr>
            </a:pPr>
            <a:r>
              <a:t>Before submission: confirm every linked folder exists and figures match the saved outputs.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